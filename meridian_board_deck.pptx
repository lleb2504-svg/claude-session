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889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7AE60"/>
                </a:solidFill>
              </a:rPr>
              <a:t>MERIDIAN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People Risk &amp; Workforce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BB2BD"/>
                </a:solidFill>
              </a:rPr>
              <a:t>Board Presentation  ·  April 2026  ·  Chief People Officer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</a:rPr>
              <a:t>n = 2,500 employees  ·  36-month panel  ·  Apr 2023 – Mar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01  |  STATE OF THE WORKFORCE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9260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ABB2BD"/>
                </a:solidFill>
              </a:rPr>
              <a:t>April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256032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</a:rPr>
              <a:t>1,928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299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Active Employees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</a:rPr>
              <a:t>as of Mar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40" y="1280160"/>
            <a:ext cx="256032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0392B"/>
                </a:solidFill>
              </a:rPr>
              <a:t>23%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0299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36-Month Attrition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</a:rPr>
              <a:t>572 departures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1280160"/>
            <a:ext cx="256032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67E22"/>
                </a:solidFill>
              </a:rPr>
              <a:t>67%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0299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Voluntary Exits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</a:rPr>
              <a:t>384 of 572 leavers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1280160"/>
            <a:ext cx="256032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</a:rPr>
              <a:t>7.07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0299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Avg Engagement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</a:rPr>
              <a:t>scale 1–10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926080"/>
            <a:ext cx="5029200" cy="347472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926080"/>
            <a:ext cx="3474720" cy="347472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2926080"/>
            <a:ext cx="28346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02  |  RISK 1:  PEOPLE ARE LEAVING BEFORE THEY RAMP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34747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C0392B"/>
                </a:solidFill>
              </a:rPr>
              <a:t>21%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of new hires leave
within their first 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246120"/>
            <a:ext cx="34747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31012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27AE60"/>
                </a:solidFill>
              </a:rPr>
              <a:t>7.8%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attrition for 7+ year
employees — 3× lower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34440"/>
            <a:ext cx="5029200" cy="38404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235440" y="1234440"/>
            <a:ext cx="2743200" cy="38404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</a:rPr>
              <a:t>KEY IMPLICATIONS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17830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Year-one leavers represent a ~$4–8M annual recruiting &amp; lost-productivity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7889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Pattern points to an expectation gap at hiring, not a compensation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79476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Proposed action: structured 30/60/90 day check-ins + manager accountability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03  |  RISK 2:  WOMEN ARE LEAVING MORE AND EARNING 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98448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C0392B"/>
                </a:solidFill>
              </a:rPr>
              <a:t>+3.1pp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higher voluntary attrition
for women vs. men (US)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92608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990088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C0392B"/>
                </a:solidFill>
              </a:rPr>
              <a:t>–$7.2k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703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median salary gap,
women vs. men (US)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617720"/>
            <a:ext cx="25603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68172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67E22"/>
                </a:solidFill>
              </a:rPr>
              <a:t>14.6% → 17.7%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13892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Men vs. Women voluntary
attrition rate (US)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234440"/>
            <a:ext cx="5486400" cy="402336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869680" y="1234440"/>
            <a:ext cx="3017520" cy="38404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</a:rPr>
              <a:t>KEY IMPLICATIONS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1783080"/>
            <a:ext cx="2743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Pay gap likely contributes directly to the attrition differential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788920"/>
            <a:ext cx="2743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Fairness risk: visible in Glassdoor data before it reaches the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794760"/>
            <a:ext cx="2743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Proposed action: comp equity audit (US first) completed by Q3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04  |  WHAT'S WORKING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370332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70332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</a:rPr>
              <a:t>M&amp;A Integration Succeeded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74519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27AE60"/>
                </a:solidFill>
              </a:rPr>
              <a:t>79.5%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3347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</a:rPr>
              <a:t>of acquired employees
still active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27248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The ~2022 acquisition cohort retained at a higher rate than direct hires (79.5% vs 74.4%) and voluntary attrition is 3pp below company average. Engagement is on par with the rest of the workforce. The integration playbook worked.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053328"/>
            <a:ext cx="3703320" cy="38404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0716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7AE60"/>
                </a:solidFill>
              </a:rPr>
              <a:t>› Playbook to reuse for future M&amp;A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234440"/>
            <a:ext cx="370332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234440"/>
            <a:ext cx="370332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35331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</a:rPr>
              <a:t>Performance Management Is Functioning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874519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27AE60"/>
                </a:solidFill>
              </a:rPr>
              <a:t>3.4×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63347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</a:rPr>
              <a:t>over-represented
among leavers (rating 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127248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Low performers (rating 1) leave at 3.4× their share of the active headcount. High performers (rating 4–5) make up 45% of actives but only 30% of voluntary leavers. The org is naturally selecting toward talent.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9392" y="6053328"/>
            <a:ext cx="3703320" cy="38404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2" y="60716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7AE60"/>
                </a:solidFill>
              </a:rPr>
              <a:t>› Invest in calibration to protect this signal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38744" y="1234440"/>
            <a:ext cx="370332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38744" y="1234440"/>
            <a:ext cx="370332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1624" y="135331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</a:rPr>
              <a:t>Referrals Retain Best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1624" y="1874519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27AE60"/>
                </a:solidFill>
              </a:rPr>
              <a:t>81.4%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1624" y="263347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</a:rPr>
              <a:t>referral hire
retention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1624" y="3127248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Referral hires retain at 81.4% — 7pp above direct hires (74.4%) and 5pp above agency hires. With direct hires making up 1,201 of 2,500 employees, even a modest shift toward referrals would meaningfully reduce attrition and cost.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38744" y="6053328"/>
            <a:ext cx="3703320" cy="38404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5904" y="60716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7AE60"/>
                </a:solidFill>
              </a:rPr>
              <a:t>› Scale referral programme in Eng, Product &amp; 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05  |  WHAT WE'RE ASKING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11430000" cy="1554480"/>
          </a:xfrm>
          <a:prstGeom prst="rect">
            <a:avLst/>
          </a:prstGeom>
          <a:solidFill>
            <a:srgbClr val="22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09728" cy="1554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C0392B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630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Compensation Equity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4767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BB2BD"/>
                </a:solidFill>
              </a:rPr>
              <a:t>Mandate a US-wide pay equity audit with external benchmarking. Prioritise women in Engineering and Product where the gap is largest. Board to receive findings before year-end.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0" y="1737360"/>
            <a:ext cx="164592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12680" y="17830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Q3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63239"/>
            <a:ext cx="11430000" cy="1554480"/>
          </a:xfrm>
          <a:prstGeom prst="rect">
            <a:avLst/>
          </a:prstGeom>
          <a:solidFill>
            <a:srgbClr val="22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063239"/>
            <a:ext cx="109728" cy="1554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15467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67E22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2003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Early-Tenure Intervention Programme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685031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BB2BD"/>
                </a:solidFill>
              </a:rPr>
              <a:t>Structured 30/60/90 day manager check-ins for all new hires. Tie manager performance ratings to first-year retention. Pilot in Product and Customer Success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66960" y="3474719"/>
            <a:ext cx="164592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12680" y="3520439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Q2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00600"/>
            <a:ext cx="11430000" cy="1554480"/>
          </a:xfrm>
          <a:prstGeom prst="rect">
            <a:avLst/>
          </a:prstGeom>
          <a:solidFill>
            <a:srgbClr val="22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800600"/>
            <a:ext cx="109728" cy="1554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8920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7AE60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9377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Scale the Referral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42239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BB2BD"/>
                </a:solidFill>
              </a:rPr>
              <a:t>Referral hires retain 7pp above direct hires. Increase referral bonus budget and set a target of 30% referral hires in Engineering, Product, and Customer Success by year-end.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5212080"/>
            <a:ext cx="164592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52578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Q2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D6D7E"/>
                </a:solidFill>
              </a:rPr>
              <a:t>Data source: Meridian HRIS snapshot (synthetic)  ·  Prepared by CPO Office  ·  April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06  |  DEEP DIVE:  PROMOTION IS THE MISSING LEVER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65176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C0392B"/>
                </a:solidFill>
              </a:rPr>
              <a:t>3.5×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higher promotion rate
for active vs. leavers
(2–4 yr tenure band)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926080"/>
            <a:ext cx="265176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9008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C0392B"/>
                </a:solidFill>
              </a:rPr>
              <a:t>7.3%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118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of voluntary leavers
ever promoted
(vs 20% of active staff)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434840"/>
            <a:ext cx="265176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4988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7E22"/>
                </a:solidFill>
              </a:rPr>
              <a:t>All tenures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Promotion gap holds
at every tenure band
— it's systemic, not
a new-hire problem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234440"/>
            <a:ext cx="5486400" cy="4206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961120" y="1234440"/>
            <a:ext cx="2926080" cy="420624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371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</a:rPr>
              <a:t>KEY IMPLICATIONS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82880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Career stagnation — not pay — is the primary voluntary exit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78892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Fixing promo velocity in Product &amp; CS would directly cut 24–26% attrition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74904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Proposed action: bi-annual promo windows with manager accountability metrics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07  |  DEEP DIVE:  WHEN AND HOW PEOPLE DISENGAGE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5303520" cy="38404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234440"/>
            <a:ext cx="530352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5257800"/>
            <a:ext cx="5303520" cy="128016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32180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September has 45 exits — 40% above monthly average.  Engineering alone accounts for 38%.  Timing is consistent with mid-year review outcomes triggering resignation decisions.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5257800"/>
            <a:ext cx="5303520" cy="128016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532180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› Leavers sit 0.35 points below active employees for the entire year before they exit.  Exit interviews are too late — pulse scores at 12 months out are the real early-warning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08  |  DEEP DIVE:  MANAGER WATCH-LIST — 3-YEAR ENGAGEMENT TREND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804672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95360" y="1371600"/>
            <a:ext cx="5852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1936" y="142646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46336" y="1426464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Fn / Loc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52176" y="1426464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816" y="1426464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Attr%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95176" y="1426464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Eng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89536" y="1426464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06856" y="142646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755648"/>
            <a:ext cx="5852160" cy="38404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1936" y="18105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060f8cec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46336" y="181051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Eng / SF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52176" y="181051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0816" y="1810512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56%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95176" y="1810512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5.3 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89536" y="1810512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3 yrs declining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06856" y="181051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0392B"/>
                </a:solidFill>
              </a:rPr>
              <a:t>PRIORITY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2139696"/>
            <a:ext cx="5852160" cy="38404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219456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20c21d2b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2194560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Eng / SF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2176" y="219456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0816" y="2194560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55%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95176" y="2194560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5.4 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89536" y="219456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Recovery reversed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06856" y="2194560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0392B"/>
                </a:solidFill>
              </a:rPr>
              <a:t>PRIORITY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2523744"/>
            <a:ext cx="5852160" cy="384048"/>
          </a:xfrm>
          <a:prstGeom prst="rect">
            <a:avLst/>
          </a:prstGeom>
          <a:solidFill>
            <a:srgbClr val="FFF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31936" y="257860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fbad34d8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6336" y="2578608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Ops / Remote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52176" y="2578608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0816" y="2578608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50%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95176" y="2578608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6.9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89536" y="2578608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Low eng, decent mgr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06856" y="257860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67E22"/>
                </a:solidFill>
              </a:rPr>
              <a:t>WATCH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907792"/>
            <a:ext cx="5852160" cy="384048"/>
          </a:xfrm>
          <a:prstGeom prst="rect">
            <a:avLst/>
          </a:prstGeom>
          <a:solidFill>
            <a:srgbClr val="FFF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31936" y="296265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db3ccea8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46336" y="2962656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Ops / Remote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52176" y="296265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 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00816" y="2962656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38%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695176" y="2962656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6.8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89536" y="296265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Early exits (3mo)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06856" y="296265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67E22"/>
                </a:solidFill>
              </a:rPr>
              <a:t>WATCH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95360" y="3291840"/>
            <a:ext cx="5852160" cy="384048"/>
          </a:xfrm>
          <a:prstGeom prst="rect">
            <a:avLst/>
          </a:prstGeom>
          <a:solidFill>
            <a:srgbClr val="FFF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33467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bc48283a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46336" y="3346704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Ops / Remote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52176" y="3346704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0816" y="3346704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38%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695176" y="3346704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6.9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89536" y="3346704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>Early exits (3mo)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706856" y="334670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67E22"/>
                </a:solidFill>
              </a:rPr>
              <a:t>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53949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Action: structured skip-level conversations for both PRIORITY managers within 30 days. Use existing manager-effectiveness scores as the evidence base — the data is already there.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