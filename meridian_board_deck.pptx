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</a:rPr>
              <a:t>MERIDIAN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People Risk &amp; Workforce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BB2BD"/>
                </a:solidFill>
              </a:rPr>
              <a:t>Board Presentation  ·  April 2026  ·  Chief People Officer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</a:rPr>
              <a:t>n = 2,500 employees  ·  36-month panel  ·  Apr 2023 – Mar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01  |  STATE OF THE WORKFORCE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9260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BB2BD"/>
                </a:solidFill>
              </a:rPr>
              <a:t>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</a:rPr>
              <a:t>1,928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29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</a:rPr>
              <a:t>Active Employees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as of Mar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128016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371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C0392B"/>
                </a:solidFill>
              </a:rPr>
              <a:t>23%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029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</a:rPr>
              <a:t>36-Month Attrition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572 departures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128016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371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7E22"/>
                </a:solidFill>
              </a:rPr>
              <a:t>67%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029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</a:rPr>
              <a:t>Voluntary Exits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384 of 572 leavers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128016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371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</a:rPr>
              <a:t>7.07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029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</a:rPr>
              <a:t>Avg 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scale 1–10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926080"/>
            <a:ext cx="5029200" cy="347472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926080"/>
            <a:ext cx="3474720" cy="347472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926080"/>
            <a:ext cx="2834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02  |  RISK 1:  PEOPLE ARE LEAVING BEFORE THEY RAMP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4747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C0392B"/>
                </a:solidFill>
              </a:rPr>
              <a:t>21%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of new hires leave
within their first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246120"/>
            <a:ext cx="34747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31012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27AE60"/>
                </a:solidFill>
              </a:rPr>
              <a:t>7.8%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attrition for 7+ year
employees — 3× lower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234440"/>
            <a:ext cx="5029200" cy="38404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235440" y="1234440"/>
            <a:ext cx="2743200" cy="38404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</a:rPr>
              <a:t>KEY IMPLICATIONS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7830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› Year-one leavers represent a ~$4–8M annual recruiting &amp; lost-productivity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78892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› Pattern points to an expectation gap at hiring, not a compensation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79476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› Proposed action: structured 30/60/90 day check-ins + manager accountability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03  |  RISK 2:  WOMEN ARE LEAVING MORE AND EARNING LESS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5603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C0392B"/>
                </a:solidFill>
              </a:rPr>
              <a:t>+3.1pp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higher voluntary attrition
for women vs. men (US)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926080"/>
            <a:ext cx="25603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990088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C0392B"/>
                </a:solidFill>
              </a:rPr>
              <a:t>–$7.2k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03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median salary gap,
women vs. men (US)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6177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6817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67E22"/>
                </a:solidFill>
              </a:rPr>
              <a:t>14.6% → 17.7%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1389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Men vs. Women voluntary
attrition rate (US)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234440"/>
            <a:ext cx="5486400" cy="40233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869680" y="1234440"/>
            <a:ext cx="3017520" cy="38404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</a:rPr>
              <a:t>KEY IMPLICATIONS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78308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› Pay gap likely contributes directly to the attrition differential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78892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› Fairness risk: visible in Glassdoor data before it reaches the 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79476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› Proposed action: comp equity audit (US first) completed by Q3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04  |  WHAT'S 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7033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0332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</a:rPr>
              <a:t>M&amp;A Integration Succeeded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27AE60"/>
                </a:solidFill>
              </a:rPr>
              <a:t>79.5%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of acquired employees
still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27248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The ~2022 acquisition cohort retained at a higher rate than direct hires (79.5% vs 74.4%) and voluntary attrition is 3pp below company average. Engagement is on par with the rest of the workforce. The integration playbook worked.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053328"/>
            <a:ext cx="3703320" cy="384048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716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7AE60"/>
                </a:solidFill>
              </a:rPr>
              <a:t>› Playbook to reuse for future M&amp;A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234440"/>
            <a:ext cx="37033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234440"/>
            <a:ext cx="370332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3533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</a:rPr>
              <a:t>Performance Management Is Functioning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874519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27AE60"/>
                </a:solidFill>
              </a:rPr>
              <a:t>3.4×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63347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over-represented
among leavers (rating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127248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Low performers (rating 1) leave at 3.4× their share of the active headcount. High performers (rating 4–5) make up 45% of actives but only 30% of voluntary leavers. The org is naturally selecting toward talent.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6053328"/>
            <a:ext cx="3703320" cy="384048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60716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7AE60"/>
                </a:solidFill>
              </a:rPr>
              <a:t>› Invest in calibration to protect this signal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38744" y="1234440"/>
            <a:ext cx="37033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38744" y="1234440"/>
            <a:ext cx="370332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1624" y="13533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</a:rPr>
              <a:t>Referrals Retain Best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1874519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27AE60"/>
                </a:solidFill>
              </a:rPr>
              <a:t>81.4%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63347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</a:rPr>
              <a:t>referral hire
retention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3127248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Referral hires retain at 81.4% — 7pp above direct hires (74.4%) and 5pp above agency hires. With direct hires making up 1,201 of 2,500 employees, even a modest shift toward referrals would meaningfully reduce attrition and cost.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38744" y="6053328"/>
            <a:ext cx="3703320" cy="384048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4" y="60716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7AE60"/>
                </a:solidFill>
              </a:rPr>
              <a:t>› Scale referral programme in Eng, Product &amp; 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05  |  WHAT WE'RE ASKING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30000" cy="155448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09728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0392B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630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Compensation Equity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47672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BB2BD"/>
                </a:solidFill>
              </a:rPr>
              <a:t>Mandate a US-wide pay equity audit with external benchmarking. Prioritise women in Engineering and Product where the gap is largest. Board to receive findings before year-end.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66960" y="1737360"/>
            <a:ext cx="164592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12680" y="1783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Q3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63239"/>
            <a:ext cx="11430000" cy="155448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063239"/>
            <a:ext cx="109728" cy="1554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5467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7E22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0039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Early-Tenure Intervention Programme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685031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BB2BD"/>
                </a:solidFill>
              </a:rPr>
              <a:t>Structured 30/60/90 day manager check-ins for all new hires. Tie manager performance ratings to first-year retention. Pilot in Product and Customer Success first.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0" y="3474719"/>
            <a:ext cx="164592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352043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Q2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11430000" cy="155448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800600"/>
            <a:ext cx="109728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8920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7AE60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9377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Scale the Referral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422392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BB2BD"/>
                </a:solidFill>
              </a:rPr>
              <a:t>Referral hires retain 7pp above direct hires. Increase referral bonus budget and set a target of 30% referral hires in Engineering, Product, and Customer Success by year-end.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5212080"/>
            <a:ext cx="164592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52578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Q2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D6D7E"/>
                </a:solidFill>
              </a:rPr>
              <a:t>Data source: Meridian HRIS snapshot (synthetic)  ·  Prepared by CPO Office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